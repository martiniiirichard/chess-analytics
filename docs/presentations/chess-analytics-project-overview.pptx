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74ec65a6047ac" /><Relationship Type="http://schemas.openxmlformats.org/officeDocument/2006/relationships/extended-properties" Target="/docProps/app.xml" Id="R7d99eec8ddb84786" /><Relationship Type="http://schemas.openxmlformats.org/officeDocument/2006/relationships/officeDocument" Target="/ppt/presentation.xml" Id="R5f816fde5085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b3a19e02d422b"/>
  </p:sldMasterIdLst>
  <p:notesMasterIdLst>
    <p:notesMasterId xmlns:r="http://schemas.openxmlformats.org/officeDocument/2006/relationships" r:id="R77aedce0a9994bd0"/>
  </p:notesMasterIdLst>
  <p:sldIdLst>
    <p:sldId xmlns:r="http://schemas.openxmlformats.org/officeDocument/2006/relationships" id="256" r:id="Rbf9e686b97ca4d03"/>
    <p:sldId xmlns:r="http://schemas.openxmlformats.org/officeDocument/2006/relationships" id="257" r:id="Ra54608c719234144"/>
    <p:sldId xmlns:r="http://schemas.openxmlformats.org/officeDocument/2006/relationships" id="258" r:id="Rec04f27e85f64cb9"/>
    <p:sldId xmlns:r="http://schemas.openxmlformats.org/officeDocument/2006/relationships" id="259" r:id="R892a2d82db39430d"/>
    <p:sldId xmlns:r="http://schemas.openxmlformats.org/officeDocument/2006/relationships" id="260" r:id="R0f6baa8b632e4cd7"/>
    <p:sldId xmlns:r="http://schemas.openxmlformats.org/officeDocument/2006/relationships" id="261" r:id="Rb08ff0c40c3a4e95"/>
    <p:sldId xmlns:r="http://schemas.openxmlformats.org/officeDocument/2006/relationships" id="262" r:id="Rc879c62e6a7f4d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b3a19e02d422b" /><Relationship Type="http://schemas.openxmlformats.org/officeDocument/2006/relationships/theme" Target="/ppt/theme/theme1.xml" Id="R6817696575244784" /><Relationship Type="http://schemas.openxmlformats.org/officeDocument/2006/relationships/notesMaster" Target="/ppt/notesMasters/notesMaster1.xml" Id="R77aedce0a9994bd0" /><Relationship Type="http://schemas.openxmlformats.org/officeDocument/2006/relationships/presProps" Target="/ppt/presProps.xml" Id="R134cebf52ab041d3" /><Relationship Type="http://schemas.openxmlformats.org/officeDocument/2006/relationships/viewProps" Target="/ppt/viewProps.xml" Id="Rdedd229249d54ae9" /><Relationship Type="http://schemas.openxmlformats.org/officeDocument/2006/relationships/tableStyles" Target="/ppt/tableStyles.xml" Id="Rf305c5028aae4832" /><Relationship Type="http://schemas.openxmlformats.org/officeDocument/2006/relationships/slide" Target="/ppt/slides/slide1.xml" Id="Rbf9e686b97ca4d03" /><Relationship Type="http://schemas.openxmlformats.org/officeDocument/2006/relationships/slide" Target="/ppt/slides/slide2.xml" Id="Ra54608c719234144" /><Relationship Type="http://schemas.openxmlformats.org/officeDocument/2006/relationships/slide" Target="/ppt/slides/slide3.xml" Id="Rec04f27e85f64cb9" /><Relationship Type="http://schemas.openxmlformats.org/officeDocument/2006/relationships/slide" Target="/ppt/slides/slide4.xml" Id="R892a2d82db39430d" /><Relationship Type="http://schemas.openxmlformats.org/officeDocument/2006/relationships/slide" Target="/ppt/slides/slide5.xml" Id="R0f6baa8b632e4cd7" /><Relationship Type="http://schemas.openxmlformats.org/officeDocument/2006/relationships/slide" Target="/ppt/slides/slide6.xml" Id="Rb08ff0c40c3a4e95" /><Relationship Type="http://schemas.openxmlformats.org/officeDocument/2006/relationships/slide" Target="/ppt/slides/slide7.xml" Id="Rc879c62e6a7f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199cf32990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09ebeb7e44e6a" /><Relationship Type="http://schemas.openxmlformats.org/officeDocument/2006/relationships/notesMaster" Target="/ppt/notesMasters/notesMaster1.xml" Id="R82194cd0d60a49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55eb184b64171" /><Relationship Type="http://schemas.openxmlformats.org/officeDocument/2006/relationships/notesMaster" Target="/ppt/notesMasters/notesMaster1.xml" Id="Rf719f4fb267842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7ab6687ee4cb0" /><Relationship Type="http://schemas.openxmlformats.org/officeDocument/2006/relationships/notesMaster" Target="/ppt/notesMasters/notesMaster1.xml" Id="R378fa1c6fe26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3928e425874390" /><Relationship Type="http://schemas.openxmlformats.org/officeDocument/2006/relationships/notesMaster" Target="/ppt/notesMasters/notesMaster1.xml" Id="R9d80a9d190ce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b53c56d834f43" /><Relationship Type="http://schemas.openxmlformats.org/officeDocument/2006/relationships/notesMaster" Target="/ppt/notesMasters/notesMaster1.xml" Id="R7f0af7241677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9736af9fa494a" /><Relationship Type="http://schemas.openxmlformats.org/officeDocument/2006/relationships/notesMaster" Target="/ppt/notesMasters/notesMaster1.xml" Id="R8f8db376849e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b0313e01c34903" /><Relationship Type="http://schemas.openxmlformats.org/officeDocument/2006/relationships/notesMaster" Target="/ppt/notesMasters/notesMaster1.xml" Id="Rd6e5851139ae46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e3b19170442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5e9f89a8a544d44" /><Relationship Type="http://schemas.openxmlformats.org/officeDocument/2006/relationships/slideLayout" Target="/ppt/slideLayouts/slideLayout2.xml" Id="Rafa37d712af2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37d712af2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ccd4fd6634ef5" /><Relationship Type="http://schemas.openxmlformats.org/officeDocument/2006/relationships/notesSlide" Target="/ppt/notesSlides/notesSlide1.xml" Id="R3f0e360b9fb9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a3f46fb2145f2" /><Relationship Type="http://schemas.openxmlformats.org/officeDocument/2006/relationships/notesSlide" Target="/ppt/notesSlides/notesSlide2.xml" Id="Re1cb6d0b940b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d7f0381fce4e7d" /><Relationship Type="http://schemas.openxmlformats.org/officeDocument/2006/relationships/notesSlide" Target="/ppt/notesSlides/notesSlide3.xml" Id="R652f44efccbe4a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a70591588d4097" /><Relationship Type="http://schemas.openxmlformats.org/officeDocument/2006/relationships/notesSlide" Target="/ppt/notesSlides/notesSlide4.xml" Id="R4acb10d22caf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b9137169494c89" /><Relationship Type="http://schemas.openxmlformats.org/officeDocument/2006/relationships/notesSlide" Target="/ppt/notesSlides/notesSlide5.xml" Id="R7407b8dcd697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6079fa5514429" /><Relationship Type="http://schemas.openxmlformats.org/officeDocument/2006/relationships/notesSlide" Target="/ppt/notesSlides/notesSlide6.xml" Id="R3d7a97d6adc649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aa74ac21d4b3d" /><Relationship Type="http://schemas.openxmlformats.org/officeDocument/2006/relationships/notesSlide" Target="/ppt/notesSlides/notesSlide7.xml" Id="R877b0b1de7fe4c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17944-E1EA-4547-AE6A-1F492A16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09"/>
          </a:solidFill>
          <a:ln xmlns:a="http://schemas.openxmlformats.org/drawingml/2006/main" w="0">
            <a:solidFill>
              <a:srgbClr val="2A100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E313A-AA3F-4F9B-AC37-7DA1A6F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C3E40-C8CB-4474-91BC-EDAC448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9AD8F-29A9-4DCB-B853-B3FC134D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8253F-8F77-4D3F-AAED-3826715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87084-C8A7-453C-875C-0DA7154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A251C-4BB1-4CAC-A6B0-6E9F032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1F1EF-3FDD-4818-ABB0-4DE8C5DA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9BF67-728E-433E-9B7A-51742A7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A22A5-0B95-421F-834F-4882909C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4C2A0-3AF5-4866-8DC0-54E29143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9AD06-E7D8-4F67-AFE3-C0F46A0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9F3FA-A685-4070-AA10-C8CF08D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86609-C89A-4DE1-94BC-9FB0136E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73F32-102D-4AA1-8A44-4E11009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ECF42-2869-4C0B-A89B-CA6245D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84A70-09DC-446A-B47A-10C32E6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F8F9A-1DDB-429B-A633-6689778B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A4FD9-F0E6-4F18-8D1A-8AFCCD4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6917F-6FAB-4011-9EEB-1FC8055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56A1F-8021-48FA-8436-81E75047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61C35-6668-4F04-A576-1A3CC0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3601-EEFA-496B-9F12-BACC709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9BDC6-BC8F-4A3C-9594-AAC4D13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2F674-0832-4ABE-AF77-34A3314F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1DF46-86CA-4B8C-A91A-2DA1046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3CD5C-2E5E-40E2-B730-AA9ECB9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76CDF-C3CF-4006-BB00-9FFBD7FA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89B1C-2AF1-4D00-85C4-ED90EEB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694AC4-2DB6-4A4F-9975-97FA997C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F3576-0404-447D-A73B-1906348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C6E1F-222E-46DF-A8CB-C46E1CA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6C415-040F-485E-9235-8786DB6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2F0DB-63DA-4C22-9096-0C01774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57841-A403-435B-BB2D-30B07EE7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1C6079-EDF4-462C-B051-792FA3AC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5D18B-69E5-49E3-98CB-58AC8E8B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7CCCB6-D9E8-47AD-B660-DC7FFCB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E7DAA0-AAE8-48EC-AFE4-7D3FE08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DB23B2-68A2-4C19-97D6-DCCBB2EF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73BE66-671D-4840-B7F4-94E5224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E7E305-0598-46DE-8448-AFF98C02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34DC44-A36E-438E-979A-A55843D8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3AF447-5318-4358-AF6C-0562A72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F1227C-A1DF-4111-BE6B-0CC2F40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3A67D5-E56D-46FA-988F-E03F19C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37248A-38CD-4E5E-9A51-EF21B0BB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D3F471-4F93-43CF-80D8-6C49F28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38E90D-F436-49E4-9313-2DD38955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9C4428-141D-4CB0-A0F4-038F259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C80310-46B3-444B-97F5-A10FCF9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2D6FB1-0D8F-41A3-9B41-C20700F3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C9C1AB-1AB5-4BF1-A563-DD0BA3C7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C1C02B-6943-469E-A30A-65150AB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40856D-0907-4C40-8FD5-E3FECE5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B3EC0A-BA05-4518-B95E-3C39B01E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AA8976-8CE6-4829-8BA0-56C1989E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5EED0E-B9FA-4DDD-A525-92B38A9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AA77BB-99CC-4D18-9E39-89CAF84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E3F24F-7D07-4F98-A640-F1B0F2C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1A63A1-AA16-4F95-B2B4-42215B65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DE7195-6F17-47AA-8870-82A3FD3E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4FB087-73D6-46A8-ADF1-B816D0C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7E85EF-6543-42D5-8386-8408970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C1A8AB-255D-4F64-9F53-2545B79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E37609-CC29-43D2-9B0A-6C01AB5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2C0F8C-0D2D-4211-AE50-0CC5B14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EF519A-44B9-495F-AF8F-EFDE86D3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6376FC-F0EB-4C20-AAE8-DECF71B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92B4A2-0514-48F1-8B0D-33E8BC4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702AE4-95A6-4F79-A180-1D25608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0F081F-4C2F-4CD3-9198-99043135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4652B1-1CF5-408C-850D-0842571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16B198-A71F-4FA8-BD42-B7A3C38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57F2D6-D44C-4400-B7CB-3A09430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070E14-C3ED-43FA-95AD-8061158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5801BF-9D7F-49BB-88A8-1B922A3A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DC2944-13C8-47AF-89EA-FB28671B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4A5943-B6BB-4BD9-A4CD-7ECE0F70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BBF88D-8B9A-474E-97BA-2DC4B4DA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E3C0C98-5096-4D04-BFDC-4FCCA431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57DA57-E36D-4D28-A9C9-E043C46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FBFFB0-4659-4AAD-90E9-FF0248CE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649934-D05F-4875-8D6F-0866A58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E41A71-646C-45F5-ADD0-BC2B473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40B3D4-C362-4451-94E0-EABF5F1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8FA6BC-3C36-457A-9C85-F13CEB2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626BBD6-249E-4180-AF32-F0B35BDC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F58875-4BBB-4659-A4B9-440D93E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ED19F5-019C-4BD5-87AB-24AA4AE9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ED5947-994C-4C0C-955D-42DBE0F0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80598E-5900-4A50-BA46-34851A4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B16503-1D72-47ED-9E2E-D18CD45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A6DEE5-0C96-4640-9DA5-748E14D0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B157EA6-6728-4837-8266-6FE6129E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2B938C-897C-405A-A7BD-E303E59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048C58-966D-4234-BBB8-BADC901A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35A782-081E-40BF-A597-C411E2C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634C7D-EC42-45B7-8F48-E0D33E1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6C0B93-A144-4598-84E4-CB96EF9A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32DDE8-5B44-4270-B524-FE60A3E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E014C18-8FE8-4732-B12B-5A9ED530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3FDCB90-C61F-4CEE-9577-7BC832E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25A1A3-4714-49A7-924D-EB041A1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3309163-C66C-448C-A128-DBE59F9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1010383-7D42-484E-89AB-33C960E9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E76BBF-9EE4-49C0-9BE4-88D810D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5F8D8F4-E30B-4CF7-BD69-04414D35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F99D7AA-5893-4BF8-8858-D8AB9D95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0CB5EB1-2A51-45C3-8650-249A5F4E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1F3D2E-2160-4D85-85A6-729B2E97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8E592A2-CA0F-41DB-B45B-DC06C82F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468E7E2-8D4A-4CC1-B4D7-A43195D5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ABAD3D-3D05-4E5A-9D59-46FAA52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DF274A-AE73-4606-9AB8-EB1FC83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2B8E4D5-A88C-46EE-B921-6C0947E4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533499-1B1E-494C-8782-8C72A36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CFC017E-7207-4DD3-B946-AA0543E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8C262F8-C14A-4639-8EA7-EB0382D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0552EA2-00AC-4F6B-B256-2DBC6F1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177D71-E618-4A3C-B00C-138009F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7330376-B499-4AB2-9C73-05317CA3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67A67DC-6DF6-4A16-B8EA-0641E1A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551DC28-483D-4DFF-B458-2E6C22C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74923F-9BC2-4D7F-B927-7BF25BD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2F0DD2-D4E4-415B-9540-A570323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71EAF63-A1B0-4012-9065-FFBCDDF8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B84878-6D3E-4E95-9ED5-55A1DC2D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23CAE3C-10EA-4E1F-A3C3-52E24705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867D3D8-44D6-4067-A721-52E3FAC5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29EF78A-78C4-4277-8D12-9AFE40C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Chess Analytics Platform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02E50E3-5EBE-4188-A021-BD87AD3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A governed analytics engineering prototype that turns Lichess PGN exports into a local warehouse, semantic model, and Power BI reporting path.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03B77C9-A5F9-49A6-B2DE-BE688A9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0804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E1B4732-1287-41F9-B0B3-3B23D82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403,928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6F23D80-8C0D-4EF8-BFF7-7735E089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0C9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0C98F"/>
                </a:solidFill>
                <a:latin typeface="Aptos"/>
                <a:ea typeface="Aptos"/>
                <a:cs typeface="Aptos"/>
              </a:rPr>
              <a:t>validated game-grain rows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17BEBF5-77D5-411A-B556-BB0F0DE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0804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62DDF5C-5D8D-415A-A059-4B6B7C3C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100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A8D0004-C093-4A09-823E-87AFED9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0C9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0C98F"/>
                </a:solidFill>
                <a:latin typeface="Aptos"/>
                <a:ea typeface="Aptos"/>
                <a:cs typeface="Aptos"/>
              </a:rPr>
              <a:t>monthly source partitions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5F501CF-A978-48DA-8D10-796A0DF4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0804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73EC943-5B5C-47EA-925F-7C12BAD4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4FF7F27-101A-4506-A212-5AAE547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0C9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0C98F"/>
                </a:solidFill>
                <a:latin typeface="Aptos"/>
                <a:ea typeface="Aptos"/>
                <a:cs typeface="Aptos"/>
              </a:rPr>
              <a:t>starter model tables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EEEDBFA-6558-4F9E-887F-FA3E3200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Opening: establish game-grain truth</a:t>
            </a:r>
          </a:p>
          <a:p xmlns:a="http://schemas.openxmlformats.org/drawingml/2006/main">
            <a:pPr algn="l">
              <a:defRPr sz="1350" b="0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Middlegame: prove Power BI usefulness</a:t>
            </a:r>
          </a:p>
          <a:p xmlns:a="http://schemas.openxmlformats.org/drawingml/2006/main">
            <a:pPr algn="l">
              <a:defRPr sz="1350" b="0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Endgame: scale toward Fabric and deeper chess intelligence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79FC59D-4982-405C-998C-AE1AD19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7984890-08D3-4616-810A-5298922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90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9067"/>
                </a:solidFill>
                <a:latin typeface="Aptos"/>
                <a:ea typeface="Aptos"/>
                <a:cs typeface="Aptos"/>
              </a:rPr>
              <a:t>LiChess Analytics Platform | 01</a:t>
            </a:r>
          </a:p>
        </p:txBody>
      </p:sp>
    </p:spTree>
    <p:extLst>
      <p:ext uri="{BB962C8B-B14F-4D97-AF65-F5344CB8AC3E}">
        <p14:creationId xmlns:p14="http://schemas.microsoft.com/office/powerpoint/2010/main" val="2307794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85C6B-AEC0-459A-8CE0-D3696781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7"/>
          </a:solidFill>
          <a:ln xmlns:a="http://schemas.openxmlformats.org/drawingml/2006/main" w="0">
            <a:solidFill>
              <a:srgbClr val="F6E5C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277E0-4BDE-41D0-9DCF-EF5EC0D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B98F-B185-4C5C-849E-ED9F0FC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EACB4-CD25-4375-BE61-DE1F8B9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7CC29-D01A-42E4-A6AB-6642F8C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B209-48BA-43F8-B55C-C585106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E234-F1EB-4119-B699-47E4B99A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43F32-33C9-46E9-9230-6935297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E0F1F-E9B0-47CE-8232-2C13C7E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825DA-F1B9-4724-A9AD-896E2B64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54B0B-5E91-439E-B272-ABA4CD2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59663-ED60-489E-A1D2-C1462DA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30077-2AAF-4822-9C9C-8E5A652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49C5B-1449-4DEE-8FE4-A84B032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9B730-8B9E-4B57-A4CC-7365ECE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97CDF-A50D-4693-9811-BF5168B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DB505-534F-4A6A-A7CD-A5077AC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88FDB-C8CB-46D5-9CCF-A8E59448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A9196-53E4-42C5-ABBC-9D2E969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A9CF4-9ACB-4379-A5BB-88ED604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37889-442D-445E-828B-6A904A0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6048B-4C16-4629-962B-68017EF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F6916-AEFE-46A4-BC10-3A4B8FC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636DB-A104-4F54-A155-532AB031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6E272-3F33-486C-972C-4E4BCEC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D6232-C311-47B9-B7B8-CF338FAD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59B48-5369-43DD-BC3F-FA1AE86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EB011-4C9A-47B7-B420-75827EC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F6409-AEEB-49DC-BE0E-60A0088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904BF-614F-4E4A-AB12-E67CBE59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C60FF-7874-4DDA-8D01-9A13A773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1C972-A344-460B-A168-65A4B92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A55683-0C26-4085-A610-EA8A403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5734CB-B83A-489D-B6EF-DEE941B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15FBCD-BDE3-43A5-ADCD-80B7459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84D2D0-D221-458C-895D-68B2379B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B2BBA4-065C-4706-A0D6-45B90743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E16DF5-967F-49F6-9791-085041A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E43561-54DA-46CE-A3D6-820C4B3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510288-D331-49F7-9A2C-1C3D3F5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97841-DB2D-486B-808C-632F24FD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9DF6D-7EBF-448B-B826-2B18C7C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3763F3-00B0-4B40-A3D8-CB024333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F9E010-BD82-4D6C-BA5C-DB159FF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71F9EC-15DA-4401-A939-508A86F7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6AC125-6C55-4246-845F-13D3DC3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9438E2-617B-4CD1-8323-8B2BDDDE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D4F03-C8F0-4F5F-B85E-B724938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B93B06-13B1-46F5-83BC-C2EC57A1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7D675A-A122-4AD0-8A0A-F9E31E85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EE39F1-F402-414E-948B-E2873A36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34881D-448A-4F56-B7F1-AC9AFFAB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20FE58-DBDA-46DC-A716-DC3E574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8877BC-88CB-4D09-9E80-EB40FB8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A7987D-34C9-4272-BCFB-E7283BB8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E5649E-BC74-4B2E-AB3E-FFEC677D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24021A-9E7A-40A7-B10E-A057AA51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E11CB3-2F49-470D-AF83-F91640B4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87908F-E66D-49B8-A3DE-89789307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7D4A02-556B-4B5E-AE21-56910B1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53DC5F-32B5-4286-A653-453C3B2C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5857CE-FFBA-4FC6-ADDA-48D4A1D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46B766-C6CA-4D00-A2AB-EB6D678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A9ABAF-39DE-4427-9486-2C53D5B1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666CF9-63C6-4104-8446-5A692D8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C194A7-DCE8-4AF4-968B-964820C6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FF4EF4-2088-4B84-BD7E-2EA7487A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8D873D-67A2-4DA1-85AF-DD908B4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C33F26-1A24-4720-B611-FD13897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417320-1901-4665-8907-850300F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F5381E-B3E6-4E2C-A84D-92F640AE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573A3D-FC18-417F-B726-0764D655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00C906-6E57-4F38-879D-E3C4F32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3E7952-B8F4-4186-A080-03C1CAB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D3507F-19A2-493C-9BBE-89067DD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9F5490-FE0C-4CDA-AA6E-B6BBC008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C12B19-274D-4A35-91F9-5EF3E1AC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D1C63F-966D-495F-9F26-AE08A4A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2E6A7A5-2B74-4E49-9D3B-1EA252B3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B89BFA-4379-4B37-AABC-B9EDA74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0ED3AD-A75E-4039-9C48-F7EA6A0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FEA703-B9CD-48EC-A0EC-B4DE1FA1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8A9EF3-2BEA-4E6F-A72D-0F765144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287236-23BF-418A-B7A5-1F08462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6A931FF-A48C-487C-8B11-ADB531D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996DB2-10C0-48D9-A4D8-4B5AB7A9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D25AF8-6E9D-44E6-9927-1AB255F2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13643A-89BC-4DA2-86DD-41277E6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785BA0-1768-4D82-B318-0498C0A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9AE4F8-8C6F-4AAF-A779-C27298A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FAC1E4-4083-43B1-BBA4-CDB44A0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0851DEA-BE48-41E9-ABF5-3EBF8CCF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45FCECD-71A0-4044-A767-7C1DEC2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5374F5-B661-4D48-9398-32701672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760B7BD-CE4B-44DF-9B4C-A767B3F4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92C624-B872-4CF6-B07C-D41D9D68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938E208-48D4-4DD0-AB5D-D1EEE7AE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D4C458-97D6-4E89-AC99-F70FBBD1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44A79F-42FF-43AF-985D-EF36FD95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4213D9-4AD0-4D15-92BA-EDBF8F8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C223BC-19FB-4E3F-8E67-50B29CBF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84B675E-AEE9-4901-85D6-C7F965BC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E09F05-FBD3-4AC5-913A-076A57E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B6A51E3-5327-48B4-A03E-F00C6F2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66662A-47ED-4876-A6FE-B0CF8A44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8752BC1-8E6E-4E93-BD4C-93034563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FAFFE1-6004-47F5-815D-FEEAAFB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DF91AD2-675B-4585-A52E-DB53390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6A83E85-4947-426D-9F4E-F0587AA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C3BEC8-7BF8-4C77-B3DB-34956D72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AA746C9-91FD-40FA-A8DE-38F3C87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E72461-D6A6-4DAD-9D18-BFFF5A1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B3FB84-3DB7-4705-9C1B-D1C2549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182B1FB-2902-434B-8418-B38474B3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B572EF-7247-45E3-B098-B25DA321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A847BC-376F-494E-891F-2265238F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CBA4EF-EC73-44FD-8F4F-0082288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31D9418-E58B-453F-8B32-3A6694FC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646FDB8-F8F9-4A08-ABEA-93FB0DDF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DD8A71-D69A-4E30-92E2-A66C3BE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49A26E-CD33-4718-B5FA-AD0E014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AD03E7B-B8A6-423D-8CF0-B1DEEE7F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5592917-1E0F-418D-A106-445AD92F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A2D63C5-F6FB-4A54-A943-929ACE96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315F56-02DF-4BC4-9927-A5A8065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FD84FA-7818-4175-93FC-7B4CFA5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WHY THIS EXISTS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84205B-7948-4C88-A951-90C266F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458F678-6189-4C6A-A8C3-89664AEB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241BC07-C19A-4B98-93D8-7E9A6282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C40A080-7040-4AFC-B4A9-FA1EFD08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8E525C0-7D05-4504-B58A-75EC58B3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The project is a chess lab and a data architecture rehearsal.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EFB96A3-396C-42BD-AF80-C374381C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The source is public and massive; the value is in disciplined modeling, validation, and turning chess expertise into reusable analytical assets.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EE66D1-5E1B-4A6F-ACE5-E0A42AD1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381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0B0A09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40B4EB3-3709-4AD8-A707-4E330699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Player insight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07E86C5-FA24-4AA5-97B5-610DCD34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Score, openings, time controls, rating bands, termination patterns, and later move/endgame behavior.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3267911-0369-493C-BEA2-5FE97EA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0350"/>
            <a:ext cx="2381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FFF8E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48DE2D8-B5EF-4E73-A0EF-BA2124A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BI engineering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1209387-B3BC-499F-8E31-902E952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Practice source-to-target mapping, medallion design, validation, dimensional modeling, and semantic model delivery.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E3A7096-A05E-4DED-9D2F-33250671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2381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0B0A09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B1948E-A8E3-419A-89F6-4C89B023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Scale path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E8ADBDB-C08B-42E3-938B-71D4668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Start local and portable; prove value before paying the complexity tax of billions of games in cloud services.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EBE7EFC-0D21-489B-842C-F504654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Strongest line: validate the game-grain model first, then earn the right to build move-grain and engine-derived facts.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98619FA-B387-4058-91BD-7196D7E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DBD7D84-A4F4-4ED5-A819-77410C8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321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321E"/>
                </a:solidFill>
                <a:latin typeface="Aptos"/>
                <a:ea typeface="Aptos"/>
                <a:cs typeface="Aptos"/>
              </a:rPr>
              <a:t>LiChess Analytics Platform | 02</a:t>
            </a:r>
          </a:p>
        </p:txBody>
      </p:sp>
    </p:spTree>
    <p:extLst>
      <p:ext uri="{BB962C8B-B14F-4D97-AF65-F5344CB8AC3E}">
        <p14:creationId xmlns:p14="http://schemas.microsoft.com/office/powerpoint/2010/main" val="389821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D841F-84FE-4261-A7E0-E49B2170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09"/>
          </a:solidFill>
          <a:ln xmlns:a="http://schemas.openxmlformats.org/drawingml/2006/main" w="0">
            <a:solidFill>
              <a:srgbClr val="2A100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6C2D-28B8-45C1-A3BE-5AF0F10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5974-5457-431A-9530-73420562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60957-D38A-4C7C-8027-48693A7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8EA3F-A78C-4902-AD23-01788D4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723DB-ADDC-4B99-BFA4-DCC38F8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56B4B-4201-4B7C-B737-499EC86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2967B-A844-477F-88C1-A284BA47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6276-0465-46A1-8046-423EF174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E03BE-8311-4D2E-BE5E-E80A8F69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2051-067E-4D1B-AA8E-19DF5CCA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DBF91-B74D-4925-9A68-DC06D1EB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D42EA-CE79-4200-98EC-1214580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DCEC5-8A03-47C9-8F8E-CDA6635A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6098-1FFE-4007-AC6E-CBD732F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9B78C-3473-4897-811A-68798D39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2F68B-49B2-44DA-8274-61CD80F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65714-F67A-4436-8277-13D508E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3E81E-8414-45AC-8C84-7C6ED2FF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770E1-6C1C-4806-A6E8-6E64673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22641-C6EA-40CC-A624-27319AF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24A35-6CBF-461B-A2E0-78EE1A6E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4DF35-2C46-44C6-BEF4-31A5DCBE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7ACFE-9DE6-49DD-A5E2-9D4459A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C5F48-2893-4616-A8CF-9553210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8D1F3-C244-48BF-9388-170BB49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E07A4-6373-4682-98CB-489D1B5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38DD7-CC60-4101-AC20-D4FA9F1C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0210D2-FE52-4CD7-A93B-512BCA0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F76E8-EA45-462B-86C0-31CCBAC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4DBE8-BA41-48AB-B713-E2A4E7A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5531F-BB3F-439F-A737-3BA2F10C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69017-F2BC-4D0B-BFC9-19B38F3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E1AFB-A277-4292-AB0B-E450AE9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9ABCD1-DA97-4268-9A6A-6CE485C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263656-C360-454D-BCD4-63F70704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51B6B0-33B5-47CB-A248-F2920CB5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29901E-64D1-465B-989D-23D7C1E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3208CB-4588-421A-8A0B-BA6CE519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B7644-24F8-4749-AECB-0C5C3DE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1BFEA1-00C8-4FC9-8DC8-37DED5DC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6ABDD3-7015-420A-8C04-D1FEE15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D64947-AE06-47B1-8B93-44979AF0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C95BD4-5A5F-460E-A63A-BED975E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68F9B8-253A-4487-B951-59750C28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409674-38A6-4E85-AC8B-4FDDCD4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7008DC-F87A-4E83-BEA2-4A1FC800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418C19-C081-422C-9CD2-0985A738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EBD010-C9E9-4363-BFE8-F5DDB19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D3285B-2FCA-4576-9B5A-1D7C149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5E5138-C66A-4917-A096-53DA7B1B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3E0300-B785-4D70-A67A-E703889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B2F005-B434-4233-AD36-CBFD612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253BDC-F81F-4329-9288-8D05F792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ED3D05-1EFE-479B-8C2E-FED770C2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FF5669-0969-401A-891D-2AE9BFE7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DE33E6-BF6A-43CD-85BC-8A0477DD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43E0D6-C6E4-4BEC-B62A-78E2D21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71DEBD-E911-4779-8DE9-9949905C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809BF0-8BEF-45D4-9440-133BC13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E360E0-4771-4DC8-B1E7-A4A5023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2EBF0C-ABDD-4EFD-840D-EDD1A116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DD6623-8CEC-4A5F-BE0A-92B290E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80C203-0462-4218-B088-C0AFACB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8A4EA3-7158-44A6-B689-73F3AF8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BD7D9F-D40F-4BAE-ACAF-C7E265E8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B0470B-C644-4B94-A3B0-94EDD85A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4953BE-852C-4B97-9A2F-4D75640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56B2B3-E9FA-4E05-95F8-250B876D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6D7D28-6D4F-4C3E-858C-EB5BBE58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80D8A1-9C41-4CA9-BD54-7B5B45F4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7749CC-EE37-47C2-9E42-9666868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41831C-EBB8-4703-B035-165BF93F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61FD32-BCAB-400D-AB17-34F756C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7A565B-CF4C-457C-B620-C69293FB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E2F3D7-DE44-4C83-B0DF-69D6E67F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1BF9895-11BC-42D1-BC40-C69B723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BBCBC4-53C2-42A7-8845-32539D5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28E885-D3EC-4E3B-9AC3-8462731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DBE863-296D-4B82-8516-20FF7C1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18F3E2-F473-470C-A3AB-329C027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E03F03-158B-481B-9391-F788339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32325A-EF3F-46A9-949E-DBBD386C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3968CA-25A6-462A-A1CA-18FFCDC3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3A470C-4F04-4DFF-B7D5-0D6BEA8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9A496B-8FFD-44D2-8341-E891570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293F7AF-52BD-4722-A869-326A1797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8362EAE-FEEE-4EF9-8546-7D1446F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57C8C58-0B53-46CF-B0DC-534CAA0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F6B3F3F-D2AE-4980-80D0-F585116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0D1419-0EF4-40EF-A8D9-47AFFA31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523DEB-E992-4589-ACB3-BFBC9319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0FB0282-399B-43C8-840E-FBE58EB8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5754D8-D4D6-43A7-9172-EC7496BF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D688E18-3256-4BFC-B598-80AB4D5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060C7C-3BCC-423A-A2A3-0C810E0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E40C0E-16B1-4A16-88D1-09D70EC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DFEADF-0FEF-409D-9F62-72C16607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1EE6AA-4B44-4830-97EA-59EFB394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A1C67D-5D66-402F-8EF7-1528451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CEF446-549F-44B1-9FD8-1C75D5A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4EEF01-9F5A-43C8-9250-7DB068ED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E99C3E-DC81-45D3-B36B-3AF5EF7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6ED92C-E370-4891-8276-4DF65EF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2EDC5F-2345-4A6E-AD79-33C5E01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325C8A-3D76-4774-9D48-2EB030A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730DB6-CE52-4130-841C-AC8AEFAE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285A5A-0926-4280-9F20-EECD2CD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4798BA-40DA-4252-A216-FA0ACB92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149AD9C-A89E-4B01-8B23-7A6A05E6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BA9EE0D-C9EB-42E8-9436-6442006A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BCD291-8B08-4363-A4F3-8E217AFE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A00A12F-5577-4DA7-91D6-704F9C8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9C65C3-C4D6-4DCB-ABB7-8AB4C975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4A3AC48-8314-4CBC-B7EB-3296786E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3ABA372-292F-4887-912F-17398686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D40E2D-A592-4661-9D9E-3BD17FC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21F99F4-5968-4AC0-A081-AA816D7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9EC626B-C9D1-4D0B-8AC9-AE0A83E1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00D1AFD-A900-4F7A-8088-99213FEA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7F2DAF-E5C2-4973-9638-4F0EB140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1DE114A-701E-4D79-AA6A-438C1C7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7BC66D-4E3D-4DCB-9502-9029629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823B27D-AD8C-49B3-914F-194F96A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3D78F4-8B5D-42A7-8E7A-C248E7A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857D0A-9663-41C6-806F-E92A9EC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ARCHITECTURE LINE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D2B7E1A-7EB0-4DDF-8157-D88405EC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4C6982E-F02B-442F-8B3E-449663A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338F856-0626-45EA-9E8E-87257E3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6C06F14-E8ED-43F7-A07A-622156AF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E51D400-56C6-42E5-BDB6-CAC47EA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A portable medallion path keeps the prototype cloud-ready.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B9330C0-D7F8-40CF-A6C0-BB681B6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Raw PGN stays out of Git; curated Parquet is the durable analytical layer; DuckDB and Power BI are consumers, not the system of record.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4A441C9-D63D-4C31-BB3D-900C6AA7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50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CBA3804-C252-40A0-A0B6-816D13CE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Lichess PGN.zst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monthly exports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DD6CE4A-D2E1-410C-A73C-0FD9119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0B0A09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72E02FC-3099-41DC-8B12-C5427FE6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162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Bronze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parsed game rows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BD3B3C9-3280-4B35-BA41-6DCFA839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160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A50FF15-3C4E-40E6-B5FC-9EDA69E2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Silver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typed + standardized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FF5C0B6-6F12-4CD8-85D8-F8B244E1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0B0A09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10FF2C-F735-4B3E-8E62-AB71AF97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137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Gold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star schema Parquet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62D0524-AFA0-4F3F-AF2C-E388ED3B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4C54A7C-E0DE-4D28-B6ED-E8932798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Power BI PBIP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semantic model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79914A7-872D-45E8-B3FC-71BBE8E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7E52161-6D8B-4B74-9FD5-89AA201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D3B49B9-A89E-40A1-8672-EE29EEF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480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7805A38-BA9A-42E8-BF5D-C26BB10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AFF12FE-4E1F-4CE7-8960-46DF61F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77AA355-99C9-4C9F-8D61-59EA4B19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2300A17-5108-45E6-AA4D-071C9892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A1C1736-1FBD-4568-A7FE-171FD0BA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05FCCE5-BB15-405F-BB27-E50F848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Local now: Parquet + DuckDB + PBIP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3B5DF30-A8F7-4BDB-8BED-3B03EA99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Cloud later: Fabric Lakehouse / Direct Lake or Databricks SQL without rethinking the grain.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2B101BF-9D7F-4537-8E4E-34BF059D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5A8D53C-51D2-45E3-989B-F29BEEB0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90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9067"/>
                </a:solidFill>
                <a:latin typeface="Aptos"/>
                <a:ea typeface="Aptos"/>
                <a:cs typeface="Aptos"/>
              </a:rPr>
              <a:t>LiChess Analytics Platform | 03</a:t>
            </a:r>
          </a:p>
        </p:txBody>
      </p:sp>
    </p:spTree>
    <p:extLst>
      <p:ext uri="{BB962C8B-B14F-4D97-AF65-F5344CB8AC3E}">
        <p14:creationId xmlns:p14="http://schemas.microsoft.com/office/powerpoint/2010/main" val="20605418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A7388-029A-4528-B5CE-95A557F8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7"/>
          </a:solidFill>
          <a:ln xmlns:a="http://schemas.openxmlformats.org/drawingml/2006/main" w="0">
            <a:solidFill>
              <a:srgbClr val="F6E5C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41B55-752E-467A-8F5E-E00F698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78D0-A096-4338-B29C-98F1C3E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59E1-9EC4-456C-8082-EAFC0AC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86039-A9A9-4C20-B46E-CCB2E8C7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8D1C9-5C6A-45A8-8C80-AAF9F590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ED09E-884E-4AC6-B70E-CE722231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AC032-E280-4A34-B17A-B27D1ECD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0C95-59FE-4205-94C4-632613B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2C03E-9C8C-42F2-94F1-09340170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AA4DF-B1C5-4A9C-B314-2DAC9DC1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285B7-0E26-44D9-A203-E0321DF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B7A34-9181-4DDB-A2E4-7388C08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25CD1-2949-44A7-A00E-ECEF7EE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97AB1-94C3-4D08-81D8-22EAEEAF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CF2FE-EC6A-490D-B3BD-BF64277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56855-661E-45EA-86C7-50DDFE8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BD4D2-0A55-4654-B173-A1B100AC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5503B-AE5C-49CA-9319-EE2758E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BD47A-2368-4EA7-B8F3-34FA671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637DD-D146-4028-93C9-0D7DA81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2CBF1-307E-4239-8427-AB03686A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2C331-DEF2-49EA-B722-4E5E1AD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F51D7-C02B-477A-BB97-4125A319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A0683-8B5A-4BA9-AFCC-38BD1B7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F9A7CC-3D3B-45B6-8F88-7AC7E65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1A80E-0E45-497C-8BCA-BF343187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395F8-0A74-4588-A2A3-E97AB5C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55DE9-6B63-490C-B270-153F50C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A0E35-2A90-4DE6-97FA-A961534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16A52-5412-449A-AE51-54B82B6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D8052-A1A2-4D5E-A490-8DBE610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F1006-41C0-433A-AD61-3FB91C6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D63BE-0CA8-44D9-8D1F-DEFEC632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963DA4-6C93-40A1-90B6-2592788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86A56E-BC1F-44AC-8363-67A24D9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984DA5-750C-429B-85A4-0B9A946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606340-7AFE-42B2-805D-4C33CAB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3D01DE-3260-43BC-A089-BDC72FF3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57EF6F-3D84-430E-A740-6A7F0BE0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8462F9-58C1-4BC8-98A9-2B1A46E9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01225-91D2-4DFF-9806-F96DAD4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4F555D-27BC-4293-9031-3A11290A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7D9B4-CE5C-4017-8108-51F73FC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048B4C-A5EA-4B9D-A514-B3738FC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CA99D-1316-42D6-9778-11A70AAC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942988-44C0-4D59-91D8-13E6A79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41900D-B35B-4210-80D0-57BD90F1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01D313-A5F0-4153-8C4D-D746F775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E0B079-905F-459E-BEFE-25510674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4F5F8D-57AF-4C71-9AF9-1BD089F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0E8454-73D1-4764-A40C-FE2D942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39F3BB-E68C-4E2B-B5D0-A593ACA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ACBC06-78DA-405E-900E-3021A63B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5BEB2A-5E92-46C2-A000-FCCEEC97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458F01-9FBD-4FD5-94CF-307B48D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20723C-E839-40F5-B9A1-D3163F8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DE43BE-EFD9-466E-B92F-1A33053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0FB0D1-29C9-4BBB-BCF1-50A06928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6BED13-FE6D-4BED-86F3-F54B10C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52E97F-453D-4C67-B72F-919ADE06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0BD9F4-FEEA-4F08-9629-E104FB3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30F964-6BDE-463B-8C2F-F2619CF7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EE0CF1-95AE-41A9-85A2-BD06690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2E03CC-997C-4E3D-88FA-78FD46DB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F62CF2-6E16-4C33-BF65-3D86A1B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F1BDBD-E224-448E-AA90-AB57CAEE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7F7E13-C63B-4AB9-984E-00A649A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961538-7104-43BA-9DFA-DAB37FE6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B66EF4-4191-4E76-B613-0367134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96AD3B-B706-4944-91B4-1A350481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B9C86C-B46A-4706-86BA-2C1448E7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F0F181-B559-4A03-A631-9EF0F46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69040A-D267-4B22-89CB-D469639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425E00-A182-401D-A2AC-12CA3B07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6A5105-82E4-4F9F-B7CB-C2C1BC9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8A0FBE-36F8-4F18-96ED-C114DBB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F01EFE-9F83-46F5-8FEC-FF5679F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B0A498-95C7-4602-AFAF-AEC9E5FC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A7FE08-481C-45EA-AA1C-1F024A0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B26170-4FD2-4E31-94C9-FD25B6A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D8F1642-B005-40E8-A0BF-48C1B50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E64A13-19DE-404B-9F17-3007CBD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00E712-9794-4224-9F85-1324E7A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3A3AF8-047B-4CB0-A1A1-212F036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BD1795-2903-4C96-AE88-6CCEAFB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ACFBA1-4B49-47B6-936A-6EE2905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B6B1D6-E43A-410C-9AA4-C8045BE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9F4486-F3F4-44DE-BBF0-F190BCF0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305526A-21E1-4AA1-9638-A9742C2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AD351B-12D9-40D0-8D10-2D2271C5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84B5A00-A7D1-4F05-8C8E-34F41077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02DC68-7487-4D00-9401-D86A3689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721FBA-7F37-4EFD-9ECB-DBD3621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F67905-EF3F-4F61-A4EF-11045B15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B5DD5F-26BC-4174-8977-3E98A0E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6F8538-432E-49C8-95BC-D8EC76C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6DBB74-3FD3-4A4B-9FA4-7ED266E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183A47-EA0F-4818-8B71-3D815EEC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9731EA0-8EFE-42C4-BEB4-6F82E98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3427746-5DE3-427D-9971-03F3E03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9F4F51-1C70-4480-8C2D-A313686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019AFE-3D26-402D-9ED8-0D59F7FA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6995D5-7A29-41E8-96F8-E4CE229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BC261B2-D035-48D2-A3AF-7B44B8DE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B84636E-9FAD-4813-9997-D120245C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B867BB-2EE3-466D-B153-F5CCB14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C8A0BB-1295-4024-9253-D6B4764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0091CB-995A-4689-AE3C-2EBCFD6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744E1EC-A9CE-4DD4-9B0A-215EF88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E03F51-DFF5-4FAD-B2AF-F8F973D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46B774D-4C08-44C1-93AB-81A329A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D2660C-89AF-4A8D-96A7-9A9578C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ED3AE9-D120-4E0A-A9F7-9B6A9D9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570DA9-2990-4D1B-9055-80D628E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C8A9FE-B343-46AD-A025-45B0894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E22F621-67C0-4080-8A0B-0E02640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4EA728F-342E-420A-8086-B7AD0BE0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B3EC1C4-9526-4D66-B095-050F94F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ADB202-FDF2-4EC3-A107-C9B1018F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7DF0EBA-B2C9-458A-892F-F7B4573F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91CFE90-5491-4D33-8414-04B93E4F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D7C3E5-91D0-49C3-8C59-E01C9A1D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A02B4AE-7177-49FB-B5DA-DD49673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0B9548-9D8B-4999-8BF4-9EAADDC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568E9F-AC60-4F9F-B6A3-26D3BFC8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CURRENT POSITION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48582A4-C65A-4BAF-99EA-8003D60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276472E-4314-4A5D-BE73-1DCEBC15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A31ADFC-ED24-4623-8199-B40E784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82F85D0-10C1-4071-ACCD-B6C5DD6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259D9FA-47E4-42AE-AE9F-5DB3FFF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The first three months are processed through Gold and loaded for validation.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512A96-3726-4E84-A2FA-5E224A5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The pipeline now has repeatable monthly orchestration, manifesting, validation checks, and a starter Power BI semantic model.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65836B-8ED8-4C4D-A2C8-CA09374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A44A35D-2884-4CB3-9029-496FC1EC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13898D-DD66-4A09-B190-955283A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43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PGN headers parsed to typed game rows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03CEFAF-C64A-4793-ACDE-8834170D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E211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E2112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3728D47-6FBF-4C5B-8D87-35DF902A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4F48230-9DCC-47ED-A662-267EBFB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80B3DAC-2BC4-401B-AF54-A215C58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Time control, ratings, termination, and schema normalization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D5805C9-C5BC-408C-81C6-2AC890B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D29AF56-7031-4D5A-AE26-3C1D58F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990D95E-7297-4AF5-9613-75C360F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CC19165-A690-4836-B2C5-D2CA52B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fact_game plus date, rating, time, termination, ECO, and opening dimensions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AB62DE1-239D-46B3-8A8B-14AD9EB1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E211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E2112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6D33F25-46D5-41CF-8605-27FBD3B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EE9636C-C0A4-444D-A954-B9CECFEC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DuckDB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2DB98D9-FF93-462F-A792-09EFF20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005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Local query database validates fact-to-dimension relationships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F5014E8-1488-4D27-A925-E983900A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988D5DC-08D6-4A9A-A237-F622EAE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41C66D5-D562-497B-AAC3-7B2FFEC8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PBIP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347DD52-1F44-49DE-93AE-40F9D70D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53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Semantic model points directly to Gold Parquet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6EC62A4-6BA6-42E3-BCC8-04EEC79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E211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E2112"/>
                </a:solidFill>
                <a:latin typeface="Aptos"/>
                <a:ea typeface="Aptos"/>
                <a:cs typeface="Aptos"/>
              </a:rPr>
              <a:t>Needs refresh test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A22ACCA-DB2F-462F-873E-D669BE3C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Validated fact count: 403,928 games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6D24398-FEC1-40A2-9ED0-D37475C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3D5306F-7577-452B-BA14-D054C30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321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321E"/>
                </a:solidFill>
                <a:latin typeface="Aptos"/>
                <a:ea typeface="Aptos"/>
                <a:cs typeface="Aptos"/>
              </a:rPr>
              <a:t>LiChess Analytics Platform | 04</a:t>
            </a:r>
          </a:p>
        </p:txBody>
      </p:sp>
    </p:spTree>
    <p:extLst>
      <p:ext uri="{BB962C8B-B14F-4D97-AF65-F5344CB8AC3E}">
        <p14:creationId xmlns:p14="http://schemas.microsoft.com/office/powerpoint/2010/main" val="18461393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419D5-90E5-4E00-B8F5-43FED14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09"/>
          </a:solidFill>
          <a:ln xmlns:a="http://schemas.openxmlformats.org/drawingml/2006/main" w="0">
            <a:solidFill>
              <a:srgbClr val="2A100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BB608-8852-4A20-876D-775A4257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E079-495A-4964-AC81-A70FB07D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7CA68-681D-4966-8420-B46F61C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D8896-E556-4B61-9878-8DBB7A5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E4D71-6ED7-43C3-97CA-DFFAB359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B1468-E07E-472D-AD09-0CDBB67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8FE6B-868B-4978-91A3-0E80895D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BB4D5-70D1-4D94-9160-4EF42C1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51CC0-7F4A-474D-ACD9-04BB681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0B0CA-EB88-4C28-996B-02D2376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3D1EA-168B-4D2B-8F82-CC9BB78D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1B309-02DF-4302-A42D-160659E9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08430-C16D-4E70-A432-AC034ED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31383-B954-44DC-8872-8CA088A9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348BB-05D4-438B-8389-4677401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D2753-19D9-4565-B058-CE09C79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C792D-099C-40FD-B9A5-A0D1D672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E10BF-E576-423E-8A4B-E1EC0D83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FAE55-FFB7-434D-89D6-A243554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98FC5-4B69-4F30-8414-C43C352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B7E68-A045-4F7D-A05D-148EB290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474C7-802B-467D-AA65-12A24B9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A37E1-1DD1-43C6-BAF5-DE912A3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AF5D4-35EB-45D0-A697-76638D6F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A8E00-3560-48B3-B733-48148F3C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310FE-9CC8-4168-8699-1983C8F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C18BA-82E0-4539-82CF-9E8E453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10995-C601-4BD0-9860-D259085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2ABA77-6127-4017-AC47-1477C59F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3E203-FF18-488A-8B52-D2DBD29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49DE0-4701-4260-9BA7-51FC5FE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D16D9-2A71-48D7-B430-DFED908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FB220-5BA1-4DC6-9689-75FCC2AF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85C564-08B5-4EAC-8A68-CFB83265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53996-01F2-4BA9-AB4D-98413D44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3EA92-438A-42E3-9965-9DC0235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234341-6B37-4EDE-94A3-F30190B9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B7CB62-E574-4CE5-82E6-B7F5BC13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6F27C-49C3-48B4-8AAB-F99C02C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939CDC-0467-44E9-AE16-BFBD09E6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337A03-284B-4EC0-9723-57C9AB45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36B3AA-4534-447E-92DB-0CF6A3F1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2F0529-7FF9-4CC6-9084-1FA9DE7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F6729C-B773-411D-9D78-E620665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9A60A9-932A-4350-A217-8D6CBA4F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A37345-32E2-4969-BD38-8468CE0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681161-BE5F-4889-8861-DE1A7B8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6473D6-AB8A-4CFD-B85B-162E7FC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8B9E49-C537-4B56-BD93-E5A2BEF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A70875-F9C8-45F6-BE54-C6502B8F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46D172-B5CA-4D1A-B7AB-710C56F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80376C-460C-4D49-9474-28E7FD27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76F2A3-E952-472D-A9E4-9E056CAC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2DF61F-7284-4A9E-A28F-EC7AF7AF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F419F7-D990-4376-988E-471275C7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43D495-C21A-4507-B62D-F488DAA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2F3AF3-583E-4F07-ACAA-CACFDE3C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84DADA-1117-4B5D-A435-B3B27321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CCDB2D-5CE3-443D-BBB7-6DC1D10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FD24FD-7D17-4486-A580-611571A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72A97A-8E16-42D8-B9A3-69BB4EF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9E4C9A-18B7-4ECB-9233-3DFE88C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B0152-D206-4019-815D-F8A982E7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6B6FFF-3830-4A25-B199-461CD3E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CA04A0-6C35-410A-AD89-C926BF90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499304-73F6-4D0C-BA13-B2BC87D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C045A4-C25B-4E63-B4CB-D1A9CBE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3EC034-84F4-4810-8E8B-AB686A4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3DD46A-584F-4EA0-B47B-64E9E4D4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882E04-88F9-4677-879D-6CE1B1D2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3D52C9-8AED-42FE-82A5-939D5D0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EAE8EA-A770-40FB-9A8E-CC074882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79777B-26CB-4533-AE4D-4B7C37C2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63D8AD-EEA3-4928-B94D-4C4BCA9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6FCDA9-952B-4884-B081-A4BC5B4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E5A1D9-A083-43A0-8B21-6B7253D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1A565E-B995-4DA5-A0AF-45F4C3C6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9FB1A0-C27C-4CB5-B778-54FC14B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7443F8-5600-43E4-9EB4-69BBC8C3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49BA7C-6984-456E-A486-53293666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78CF78-2641-42B8-BFE5-D01E7A0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4A544C2-E832-4280-8544-8FF2B7F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507B66-E647-4DB2-AA3A-53AED9A1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D55D95-599B-4A0D-89A1-1C7D1D0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AD7601-F8B0-48C8-84F5-F60EA10D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6D09E4-F8EC-4EB3-AEDE-07AA3EB6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0EFC67-3808-4918-8B19-37E1BED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F6108EA-4867-4770-972B-3891DFC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46CFF93-749C-4E55-A4BD-282381D4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12A4D4-6E8B-4E33-BE78-1A3AE66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7691554-588D-4876-BB5A-3C912FBC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092AF8-566F-4A69-B51A-1A22C53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030371-F1DB-487F-8B67-5D402DB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2AB44B-A63C-4436-9882-B6A90E0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449A84-FCE3-41AA-AE96-7B4957F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1341D1-A0D8-4E81-8C25-2980364B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6280F4B-4C96-4932-BF48-FC481D99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60441C-8320-4CC2-8B23-965CCA5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BA333C-E162-4146-AA61-DF79CE2D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71339B-DD01-4C25-8764-74358B2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FD11CF2-E342-4895-BC53-395CB5D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F3BA18-1021-43BA-A610-15CC2456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E9EAFF-0CCC-46BF-9DC6-5EB4EF7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318036-D6B3-4D53-91B3-F3528154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8BE354B-1BF6-48E2-9273-E16F3375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976AEE2-EFF1-4BDF-96FA-3272739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13F964-6576-4921-8E51-66A00FD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074954-2630-4E2B-93EB-930EC364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0ADEFDF-DF1A-49F4-BF97-EAF5C33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5DE569-8405-4570-9B10-92BA4A8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A65D9D-FF1C-4F84-AFD8-302886A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83E49C-6D1E-48B2-BC92-173593AE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983A24F-A635-4228-B1DF-DB21247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A9F0AD2-4776-4C08-8708-40159DC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95C6F7-E1D1-45FE-9EED-2457BA3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65B2A96-CCF8-4ABB-B625-FCCABAE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BFB9DC-E7BE-4BFE-94E0-8C4E79E5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C3F1B41-4187-4F22-8D8A-B585BBE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F7EB831-1C4B-40D9-B9F5-A6022C83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9FA6671-92A4-4DCE-84EA-F2271C1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4FB2226-04B5-470E-BD8B-FB250D87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27EE595-A354-4B32-ADE2-6F5729F4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72FECC7-40B1-457E-8D7A-5DE3DAC8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F75811-FD5A-4C12-B980-B0C7B397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F11725-F322-4725-8464-B348F63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SEMANTIC MODEL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7C37197-FA67-42FF-9527-9AFFD9F8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7DA57A0-7CB0-4405-9FF4-5D3F7365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ACADDAF-B468-4950-8A29-EE380F8A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970E40A-8FF5-42AD-B80C-A3CABA5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07D9B56-A9A5-4218-A4C5-AAF02BE5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Black and White stay active without forcing awkward model tricks.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4C2CE75-FB15-4F20-A3F9-B7CA615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Separate role-specific rating dimensions keep both color perspectives easy to slice.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3FA693-20D9-42A6-A320-21204F7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28950"/>
            <a:ext cx="1790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8F"/>
          </a:solidFill>
          <a:ln xmlns:a="http://schemas.openxmlformats.org/drawingml/2006/main" w="14288">
            <a:solidFill>
              <a:srgbClr val="FFF8E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3056887-E549-45F4-B551-AA24678F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fact_game</a:t>
            </a:r>
          </a:p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one row per game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0D79CB7-8AA1-48CC-BB76-452D0CB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38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18E2F2B-2BF5-4560-AA94-5C1AF19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dim_date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FC8F930-498B-40C5-8F0A-4FB42FF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862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81F2AEC-1895-4F37-9085-7047A35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dim_white_rating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2FD56A0-6616-4DF6-B1DA-07A2029B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621AAD9-A24D-44D8-8FB6-BE0D632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dim_black_rating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CFCF55-6D51-4C02-B6EB-D08339F4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434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77F08D0-3389-4AB7-8493-569EC09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dim_time_control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0E5B23F-8160-4FAA-B342-B12602D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FBBC584-4E11-440B-A9D1-2E604A0A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dim_termination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E6402E3-B340-410B-8D16-CBEC7A3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238B758-5CD2-4F18-8276-4215F90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dim_rating_diff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15BDD62-91C1-47D9-AA06-8619A59A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028CAA6-13CE-485F-AE54-8992A28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dim_eco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7A96303-51F2-47F6-85A2-EEF5970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66A3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3A625BA-D651-4313-B230-CE612D0E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dim_opening_variation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90616A5-4358-432B-9FD3-ED62C01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04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8EA"/>
                </a:solidFill>
                <a:latin typeface="Aptos"/>
                <a:ea typeface="Aptos"/>
                <a:cs typeface="Aptos"/>
              </a:rPr>
              <a:t>Starter measures: Game Count, score %, win rates, draw rate, time forfeit count/rate.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CBDD05C-90EC-43D2-9A64-A4AA52A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13607E8-49F9-4646-91DF-03B64BD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90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9067"/>
                </a:solidFill>
                <a:latin typeface="Aptos"/>
                <a:ea typeface="Aptos"/>
                <a:cs typeface="Aptos"/>
              </a:rPr>
              <a:t>LiChess Analytics Platform | 05</a:t>
            </a:r>
          </a:p>
        </p:txBody>
      </p:sp>
    </p:spTree>
    <p:extLst>
      <p:ext uri="{BB962C8B-B14F-4D97-AF65-F5344CB8AC3E}">
        <p14:creationId xmlns:p14="http://schemas.microsoft.com/office/powerpoint/2010/main" val="6556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94DFF-949F-4254-8600-C4BBB29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7"/>
          </a:solidFill>
          <a:ln xmlns:a="http://schemas.openxmlformats.org/drawingml/2006/main" w="0">
            <a:solidFill>
              <a:srgbClr val="F6E5C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03FA9-874C-4590-B574-AE5B247D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A15B4-572D-407F-AFF3-20E6A7AB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90A2C-1C5F-4C49-B039-703D0F5D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2AEF8-D09F-4A30-A165-44A0EAC4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C7371-639E-4D25-A411-A029DAC1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EECD3-FF79-40CB-BB36-AAB2353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93A6B-2B59-4BC0-93B8-26A23EF9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2E689-E0B9-4EAE-A883-13EE19F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C9459-73B0-40CD-8F87-03B9D9E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84A0-F53F-4B29-A39C-2DE4BEA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AAF1C-8096-4B7C-9398-951C883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DAAB3-A2FE-497B-A694-92D7C36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39E49-E6C1-49A1-8CD0-13952CA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F7097-242E-40A5-ABFC-172E53D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141EA-7A45-47DC-9324-680E4BB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06D30-8F31-4086-93D7-D265E3A2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D4AE6-98AF-4D23-943F-79A25394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80CA9-83D6-44F2-B2A0-5E9B688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50B93-C440-4E36-BD26-B94669F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3AF14-B7CB-491E-8C09-231804A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159F4-1EC6-4BEE-983C-E3E7BC8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6604B-BC19-40E5-A266-B8E3BF9F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62EC0-1EA4-41B8-B385-103FB88D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924E0-B0FE-4C9D-B314-EE55723F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4CFBE-1702-4721-9DBC-22B22B2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46D11-DA72-4B8D-BE42-2C3E6FE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E9877-9F35-4FBC-9C8B-BBF3ECF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13277-81D0-4CF9-81FC-2CFE4D33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15100-FE04-4205-B620-0F67B46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76E02-76BF-47C2-8517-E6A7BB4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F2A31-F9A5-451A-8E1D-17C3795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55A7C-0760-4089-8614-D766ED4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8E8A26-2E3A-4383-B57F-D6F8ED3C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8384D6-61F4-4B3B-99AE-8E584F46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2A580A-74C3-49E1-8662-636AE4E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F96106-FB2E-4A74-8E6B-1510CD98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68A233-2C60-4AEE-A561-B19BE47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95DC5A-041D-4A6D-B09F-E3F0FA22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D1C453-248D-4495-B5CE-7C94FDA3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15A4DC-3EC3-49D4-A54E-EC04180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2CCA5-5A05-44B3-8334-37D10A4B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3A875C-2126-45CA-B3B0-DE6E0612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87AB59-AEE5-4127-9529-5DF64D9C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1D9519-F9ED-4651-AB68-C2CB8640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7BB4A9-0788-4D6D-92DC-ACA71F8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F48982-0789-4480-AA31-91F5A975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5EF951-56B3-468E-8613-51342AEB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D151D9-7432-4CA3-BA88-509EC78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B3BC53-DFD5-4B50-883D-19AB825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92773C-C55C-45BD-A304-0E5C7CA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EF2930-6AA9-4C8A-9338-41CE0B9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FA2FAA-F7CE-4413-AFBF-572AC1E5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1E3F8A-C5BB-4E83-B921-3E22D763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C3D9C3-D863-41AC-995D-E505A66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32CD24-401C-441B-BAE2-A83DCD54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144D9B-B52A-42A2-AD9C-2B1A8B71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A1987A-1097-44D8-B497-A795B607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F2B186-BDD4-4A77-8C12-CBEB113D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84072B-4957-400C-ABFA-5B2A30D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970640-16CA-4C09-B56A-38BDD18F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D5D1F0-5A62-45A7-A778-14B1FB19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2853E2-E2FD-4483-AE2E-B3FB6B99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A89424-941C-4239-AD81-A9ABB96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AB4B46-F53D-4226-8421-ABBAD8B8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E7D095-3261-45F6-B7A8-BC842F2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F8A5B2-1DD0-4B02-9C4C-131C2982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B303E2-E885-4DE6-B1A4-7ABD6DCF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CAF615-FC94-4BE0-BD2D-33E68A3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F6E5C9-9C96-499E-9F71-DA9833D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D922F3-3051-46E2-ADC6-41756B1A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BFF7F8-F0D9-4CE0-A903-6A96112A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AB7CA3-46A1-4625-9D31-6D0A5911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EFDD1F-E8AE-4043-9655-3A3CA5C8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387DF4-BB87-4763-9DA4-76F7EBE9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5807F9-52B9-48B0-B145-4E2A6218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A92D71-F7D0-419F-8B79-66952992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5AE951-21E5-4C9F-950E-EE98FDB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5BB402-412E-476E-B093-1A7698E7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E29A51-CACA-4B5D-883F-C2A1C3E8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07DD38-93E6-4F50-9CA5-84B70D5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A61FDB-8222-42CE-A4AA-4B68621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778100-B755-4822-B73C-59ADDF05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EE81FA-3F14-4863-B690-36FF06B3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796A63-5B42-40D1-882C-1FFCDE4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5F8EB6-6481-47B8-9D0D-4BAED8E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E01C41-4290-4C07-B72D-B1BA885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1DAF81-9494-420D-B17D-7F5756D6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2A3C05-F806-4A8D-B04D-CEBD1B8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144040-851B-4E76-AE1D-835D86C7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5C9ACF-DD69-4E5E-B0C3-46AC04CA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12079CE-AD96-4DEB-B08B-92EEF8A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C39A475-CDC4-4C2F-A046-1F0407A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BF08B8-FB46-432E-8D9B-E6B8B0D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CCC14D2-1B8E-46D3-86B2-1C448534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479143-FEB7-4DDF-9B9A-CB79A1E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D573E8-7D52-448C-B7AA-39786BC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0FB03A-2981-4333-B3E4-862A8BC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73775E-0A0C-4E3C-A737-815609EF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82A05B-860E-47B3-8B71-EA85E90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623394D-9F49-4BC0-83EB-0E2C3CB1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9ABDEC-1A2A-40A9-A848-52B8B2D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72C2AC-9436-4352-8106-6878FC6A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17CA94-FE57-4743-89E5-E95090D0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2EE1216-11AF-4EDC-9407-9C5AB60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53DFED-BE58-4C91-94A3-BDCF5CF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3DD207-F2C3-4B3A-AF2B-56A4274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130D7DB-948B-4879-91EF-6EC151F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3B6EA8-BA78-43C8-9EFB-12D62F1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1DF8A2-1B58-453F-A3E3-268BC42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44A5924-C483-4CD7-B94A-1B46E74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98CD7A-8CBA-4630-A196-CAE0DAE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999791-CE7C-437E-AB71-A902C11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8C7A356-FD44-4208-AD76-33F5366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AC8F08-93B8-490F-9AC1-1913DDBE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6D76F9-3EEE-4947-BF01-95CF812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EACDC3-A4AF-45AD-823A-17A6BCE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6A06292-C3D5-457B-A5E8-AD1FCF8F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9D19A28-ED96-4FAA-B79B-3EB16765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3BB0F09-16CE-405B-93A1-5224639F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230197-1AA4-480F-B42F-3358EE7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636FA3-C2BF-45FC-9D3C-5C57C76C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8C9517B-D150-4AB5-94BA-BA01E19A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7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2286864-30EE-405C-8AD2-DB20B289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AED3AD-A929-4F7A-9616-071AF7C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26ADE1-A57A-4D64-812C-78481ECB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ANALYTICS ROADMAP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C75D72-C6FC-4D3E-A898-B32CDD31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8D1130C-4301-4F11-9D7F-AC8FB31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B85C6C1-0E0A-4BB7-8CAC-6E29670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5B1270-6E93-4CEC-9D9D-E52856C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D1899F-2A66-4EA3-A189-07C42A2D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The roadmap moves from descriptive truth to chess intelligence.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6CC890E-339B-4F59-8090-07C92D4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1D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B1D12"/>
                </a:solidFill>
                <a:latin typeface="Aptos"/>
                <a:ea typeface="Aptos"/>
                <a:cs typeface="Aptos"/>
              </a:rPr>
              <a:t>Each phase earns more analytical nuance by accepting more data engineering cost.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A7383F5-F5B6-4C54-83FD-4FC463A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000D57-DF2B-4470-9C84-E635E0A6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77330B1-BA10-4194-9539-6E1FCA89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V1 game-grain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C0AB434-EF8E-40FC-B2E7-692E658A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A09"/>
                </a:solidFill>
                <a:latin typeface="Aptos"/>
                <a:ea typeface="Aptos"/>
                <a:cs typeface="Aptos"/>
              </a:rPr>
              <a:t>Score %, win/draw rates, openings, rating bands, time controls, terminations.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06E1369-C5E7-46CE-B38B-13129AB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88FD24A-FCFF-4DC4-8E87-D79EB49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Middlegame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08983AD-8DC4-498F-8339-A2B893E4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V2 move/endgame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2D997C9-14DD-480B-8190-1879684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57650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8EA"/>
                </a:solidFill>
                <a:latin typeface="Aptos"/>
                <a:ea typeface="Aptos"/>
                <a:cs typeface="Aptos"/>
              </a:rPr>
              <a:t>Ply grain, phase rules, material transitions, endgame frequency and conversion.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A3CB5F4-8092-4C75-BD3F-67DFD28E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89BFCA8-E1AF-44D5-857C-D9B283DF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A09"/>
                </a:solidFill>
                <a:latin typeface="Aptos"/>
                <a:ea typeface="Aptos"/>
                <a:cs typeface="Aptos"/>
              </a:rPr>
              <a:t>Endgame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7E05821-F7C3-42EB-8DA4-FBA837C2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V3 eval/ML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780BB8A-9214-4851-BDF4-B5448A47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57650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A0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A09"/>
                </a:solidFill>
                <a:latin typeface="Aptos"/>
                <a:ea typeface="Aptos"/>
                <a:cs typeface="Aptos"/>
              </a:rPr>
              <a:t>Engine/eval deltas, time pressure errors, underrated player detection, training recommendations.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7309B1B-91EA-4DB7-AED2-9759B687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Design principle: do not ingest expensive position/eval data until a metric requires it and the reporting value is clear.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C2E746-9DDB-47F0-867E-E1265DD9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17651A9-AECA-4609-A902-165020D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321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321E"/>
                </a:solidFill>
                <a:latin typeface="Aptos"/>
                <a:ea typeface="Aptos"/>
                <a:cs typeface="Aptos"/>
              </a:rPr>
              <a:t>LiChess Analytics Platform | 06</a:t>
            </a:r>
          </a:p>
        </p:txBody>
      </p:sp>
    </p:spTree>
    <p:extLst>
      <p:ext uri="{BB962C8B-B14F-4D97-AF65-F5344CB8AC3E}">
        <p14:creationId xmlns:p14="http://schemas.microsoft.com/office/powerpoint/2010/main" val="979671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F64A0-A683-42D4-AEBC-19077724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09"/>
          </a:solidFill>
          <a:ln xmlns:a="http://schemas.openxmlformats.org/drawingml/2006/main" w="0">
            <a:solidFill>
              <a:srgbClr val="2A100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FBA15-E3CA-4DCF-9F21-A9ECC1F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73ECF-3C9C-42CF-B75F-5CAEE59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CD839-790D-45E1-88AD-FE0D4311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605D-DC86-4C4F-ABF8-5ED2E31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384F6-4E89-4158-BD9E-EFBFAFD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BC6A7-E64C-4A7E-86CF-37CDC8D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91EFD-E960-473D-86D7-2FB1E808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F7CEE-F1B2-4788-89FA-30CD0F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FEB4B-9D9A-4245-9906-49DA92D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7B9AB-56E4-4836-94E0-29030028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634F8-2080-4E14-94A8-1ED46C0F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5EC1A-FA72-447A-A012-D8FB0931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CFE3A-5C14-492C-87C2-929AA23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9F6DD-04B8-45A4-8A21-4961F5D3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86A75-5F8C-4453-8B0A-4169B34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01DD7-2FC9-4CF4-B940-CC9F870E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E7B2A-EC22-4567-AF92-84ED9DB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3AAF2-26BA-441C-820F-E0C72132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915A5-DEBD-41DC-8AF2-400D6CB1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54589-011F-46AB-A018-D0C2B4A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C79F5-45EB-434E-8FCA-C392382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4D994-65BD-4A31-B0AA-D61BFCA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C7A05-275A-4B6B-8A26-8AACFEEB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FB559-B679-4B07-89F8-A39509E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CF282-5C7D-4F2E-9950-51DD7D8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8A139-277D-4573-A4A1-B5F0A549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06C7B-8D0F-470B-ADB7-D8722F52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A2D05-142F-43E1-B13B-A71DE6B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D99BC-13EE-4E2F-A331-E155A47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272B8-782D-42B4-B00E-15F1C2B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5ADCF-38D0-4140-9E01-F30519D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D955F-05B3-4D5A-9359-62BEFE4B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7CF43-2DB7-4F05-9296-F7529EC5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A5F0A6-8D18-4F50-BD72-055A466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11A966-B61A-4B47-9E24-1AF7729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49AB6-ED45-4ED8-9155-0C64EA1D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A61D60-FADC-4B38-8FBE-F39F77FD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FC302-8F04-45A3-A169-799434C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792EA-7478-41D9-8441-6753154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F6C5A8-8A7D-43C2-A098-C5FFBA70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1A3187-F41C-4F83-A209-8B24ED4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FD87F6-545E-4F34-AF1E-A262890C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3A53F3-6416-4AF9-8C08-EE9D3087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BB9E49-01D3-4AEE-8CFD-2449FA89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44C5CC-65B8-450E-8831-47C970A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00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DB5866-3CE9-49B6-B509-44851187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8F5BEE-4383-4D7E-B5C0-DB0BE17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C0996E-B48E-49AA-86AD-0C87929D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0C7DA3-A039-4072-854B-E839F93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929090-1EE1-4110-8F68-EDEB2075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331239-9919-45EE-85E3-C8FAB6F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C07297-4DB9-4067-8E5C-EF12C31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F6EAF1-1BB1-46D5-AF3B-16C14B0E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A1B894-2076-48B4-8F56-7221A78E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FBBB17-F77A-4435-8E32-A6069966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65DBA1-CA10-42F4-9C2F-83AA439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47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3B1D6F-78D0-4116-AA9F-B1F4A91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ABC4A7-CA71-4314-9FCE-7E76A81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AAC513-02C0-4520-9557-1B00D266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539ED3-CDA9-45EE-B9B9-BE52F17E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BD8098-FD42-466C-8107-5D6E517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5E61E6-4101-415B-9F90-19FF2958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C26412-F01D-42BC-84C9-12AB00B3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019D80-F263-4A80-B5E8-AC908F68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A2812F-59DD-4F37-AC9C-F7A4CD3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3B6450-F989-41E8-B2E8-1390DEB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EBA083-8EE0-44DB-8EFF-E1CF3BD0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95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BFB76D-F638-40CD-B296-CD6A75AE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C274FC-6D74-4DA0-BBC4-9DBC2360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25D8C9-21D5-4088-B1E2-4FB9E4C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4EE17A-8EF6-4183-B2DB-5D12C279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7CD8BC-A44D-435B-AB7C-7D50046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13648C-4CF7-4518-80FB-2A3F1872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7D70E4-B968-4AC1-864F-0FEF9F7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7FAE3D-55E4-4A73-985D-E43D003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CBEF95-8304-4650-9FB3-2BB6C45B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7C8ED9-BED0-4E3C-A196-5C601793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ECD051-9805-4226-8FF6-E8F70B5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448204-74C3-428F-BAF1-99EB5CA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72DF1A-2F38-413E-841C-71A65D9B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4789D9-33E9-4833-95C1-042B18E0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6FC23A-A3EE-4C97-A527-D367BEA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ECA790-A3B0-4F99-8281-02173038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399D95-3127-4812-8E42-BA4EB8A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0DEB68-F08C-42B0-AA42-B4B7235C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7CB51B-DDBF-4040-AAC3-B5088F4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24897B-F634-4B83-BB49-953C24C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8459DD-E8A8-472F-AA93-BD1CCF19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DB0B95-2907-436C-A8FC-10C73EE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0A79C7-B619-4142-8B66-CD80B6EF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3FDE67-0B8D-4266-A857-8C66E18C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5A1B30A-539F-4DCA-8FC1-7B6D0BA5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E1C5AB1-B87D-43AA-B0C2-079F282C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62FE0E-668F-41E1-A94D-3C845EAC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C5C876A-99FA-45F6-862F-DCB6A1D6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BDFDAE7-D4CC-4E8C-BEBD-33B6DBF7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657D7D8-7881-4C1C-B1FC-6CEEA20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83D67F-3612-455A-99A2-67C0CFC8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6AD163-464A-442C-AFF1-FF331DEE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9484BC-3D88-4C46-9CA6-28AD875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38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6B24786-B1A3-45F8-BA39-5B45C32C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DF3556-C5F0-4206-9EF1-5229836B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9FC003-3FAC-4128-9D07-711501D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B136CE-FB46-44BF-A0D8-C8D906F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5F4F93-187B-4625-B9A9-A9A68DF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0DD140B-1A8D-4D21-8591-CB79EF5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64662BB-9B4B-4627-8A67-E282B3A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F4E73C-9FEA-4C13-B4F5-76A8984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655340-8AF3-4517-8BB8-36407FAE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B69F1B8-9A12-44CE-A002-E83831E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89EF352-8B9B-45A4-8994-BB798CE6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5BBD43-3E2E-4A40-A85F-D43B0409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DD194E5-6720-4E30-9C08-E375672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3B1430-5F58-44E0-8650-8E217BED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ABC708-7428-4ACB-A635-71122C0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DDF0CFC-FF78-4625-8236-D70DF1B7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1D7DA3-CFC5-4E23-A5E2-0EF94E0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17F1283-0786-4D8C-94C8-94C91632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86721C9-635B-4A1D-93EB-95E4AAA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F6B490-2726-489D-9A3D-5EB97FA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2B214C-3AAC-42E4-9400-EF484598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D11F7E-4317-4A98-8F4D-08A4D538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33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EBE94AE-A593-4089-B530-8F1AF25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"/>
            <a:ext cx="2876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66A32"/>
            </a:solidFill>
            <a:prstDash val="solid"/>
          </a:ln>
        </p:spPr>
      </p:sp>
      <p:sp>
        <p:nvSpPr>
          <p:cNvPr id="12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183451-2BB4-4F4F-A9A6-61D0A0C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C66A32"/>
            </a:solidFill>
            <a:prstDash val="solid"/>
          </a:ln>
        </p:spPr>
      </p:sp>
      <p:sp>
        <p:nvSpPr>
          <p:cNvPr id="12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E3C877-16EB-4CBB-8A1D-492AA4F9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A"/>
                </a:solidFill>
                <a:latin typeface="Aptos"/>
                <a:ea typeface="Aptos"/>
                <a:cs typeface="Aptos"/>
              </a:rPr>
              <a:t>NEXT MOVE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18FFB27-6343-46B6-BC93-3F9955B4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0A6CE35-40FA-4BB4-8CE8-4C12DB7A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W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8CFAAF7-4EEB-4777-A06F-FFDE641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11430">
            <a:solidFill>
              <a:srgbClr val="C66A3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E9092F9-B90F-439E-8172-3B7DBEA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69D1592-47B8-46EB-B71A-83A4281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90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Validate the PBIP, then choose scale or report design.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FED81AC-4E44-45C6-8028-2A9F02E5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This is the next decision gate: prove the model refreshes and matches the warehouse before expanding the surface area.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9137C5-6EEB-4F51-9CF8-52636952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856444D-AF5F-4CD6-9FAF-82FEE10F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8107061-C274-4D86-B0DC-72A619A9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43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Open PBIP and refresh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885BF93-FC2C-4855-8C2E-2EF2A90F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1942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Power BI Desktop must import Gold Parquet without TMDL or M failures.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C8CEE9A-24E1-41F1-8F32-C153921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9045B4B-0F7A-4584-942F-4D4F57B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B2C64D-7F2E-45C6-8A01-F0E891DF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480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Reconcile count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652BA52-0AC6-4C7D-9DB1-30A87AB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242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Game Count should match the validated 403,928 Gold/DuckDB rows.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492BF63-FFF8-4FC6-9F9F-D7D866D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BB8D32E-370B-4C07-B25A-04BCE295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A0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0A09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9FA360B-E100-4898-8F0B-0F6E893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529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Smoke-test visuals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03E5A89-E557-44BE-818E-83575C4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2912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Slice score %, openings, time controls, termination, and rating bands.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EB95A4C-CE12-48CF-9F36-70C8801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C66A32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8DDD3DD-7703-47DA-B561-4421379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FFA8C23-30BF-4EBB-9332-DAE828A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8EA"/>
                </a:solidFill>
                <a:latin typeface="Georgia"/>
                <a:ea typeface="Georgia"/>
                <a:cs typeface="Georgia"/>
              </a:rPr>
              <a:t>Choose the line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581D682-5B90-47DA-9420-99176DD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339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5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E5C7"/>
                </a:solidFill>
                <a:latin typeface="Aptos"/>
                <a:ea typeface="Aptos"/>
                <a:cs typeface="Aptos"/>
              </a:rPr>
              <a:t>Either scale more months or build the first polished report page.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780D007-2770-45A0-A01B-ADCD4446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C9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C98F"/>
                </a:solidFill>
                <a:latin typeface="Aptos"/>
                <a:ea typeface="Aptos"/>
                <a:cs typeface="Aptos"/>
              </a:rPr>
              <a:t>Stakeholder message: we have a working local warehouse path; now we are proving the semantic/reporting layer before scaling cost.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079335-8F67-49D7-9B78-8BD2A2BB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F414CE7-0ED7-4840-A264-8014F23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90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9067"/>
                </a:solidFill>
                <a:latin typeface="Aptos"/>
                <a:ea typeface="Aptos"/>
                <a:cs typeface="Aptos"/>
              </a:rPr>
              <a:t>LiChess Analytics Platform | 07</a:t>
            </a:r>
          </a:p>
        </p:txBody>
      </p:sp>
    </p:spTree>
    <p:extLst>
      <p:ext uri="{BB962C8B-B14F-4D97-AF65-F5344CB8AC3E}">
        <p14:creationId xmlns:p14="http://schemas.microsoft.com/office/powerpoint/2010/main" val="1660382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2026-05-29T18:29:46.7030000Z</dcterms:created>
  <dcterms:modified xsi:type="dcterms:W3CDTF">2026-05-29T18:29:46.7030000Z</dcterms:modified>
</coreProperties>
</file>